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>
        <p:scale>
          <a:sx n="75" d="100"/>
          <a:sy n="75" d="100"/>
        </p:scale>
        <p:origin x="3364" y="1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51459-514A-A09E-E226-ABF6919FA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107A38-0BEF-805F-004E-94950915F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83C5E-2788-A776-8B8F-663389272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002BD-1585-4796-8913-97A288961EB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C4A2B-49A0-3EAE-F71D-55263782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EDD3-AF52-D6D1-6688-5EDEE333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F864-1B11-4A24-8BAF-808440805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52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CE4BE-B562-33EC-B2AE-D63D435EB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5709B-59DE-807E-4CA8-41997880C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2E00-B5F9-6921-80B4-A355F15EF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002BD-1585-4796-8913-97A288961EB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E68C-1676-E1E3-BA17-A1975936A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175B4-4ACB-A7BB-6D0B-5E744179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F864-1B11-4A24-8BAF-808440805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591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3F01-F099-2F5F-0EA4-E9AE69BEB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E2E2F-38F1-32A2-F199-A4B6D7990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82BEB-BC3F-36B6-1C84-B5256E334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002BD-1585-4796-8913-97A288961EB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AD87-4482-AC9A-E676-75B65C9A3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F91A-FD50-CFB1-B78B-E704E68C6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F864-1B11-4A24-8BAF-808440805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688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1FB6-B460-7F53-1E85-EAFB62188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C63C4-5284-D272-BB45-383F2EFA6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ED59C-A915-1D7D-01E5-E9D6859F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FF25F-25B2-35C2-63FA-AC1E8AD0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002BD-1585-4796-8913-97A288961EB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251D2-F160-C75F-6B04-94B9343B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5E526-B474-7B45-BBB8-A8CF7A893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F864-1B11-4A24-8BAF-808440805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381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FF99-10A7-46F4-6275-C100AAF28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D3D76-7BFE-C6B1-50EB-CD385A11B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5E2CE-459E-ACEC-B340-66537D573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13392-0557-B151-A923-FE89F7AEE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1DED1-5F26-9485-5A36-C73D8F112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3B54EE-D5BC-1956-9753-1A7C0EBC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002BD-1585-4796-8913-97A288961EB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2BD98A-CCC3-27AD-A756-C45F65043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858164-8934-1ECA-DC5B-4EE2A52A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F864-1B11-4A24-8BAF-808440805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141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5246A-9F0C-3E5F-9CE3-AD08C265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674612-2446-6DB3-63C1-B4EE1A57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002BD-1585-4796-8913-97A288961EB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80D5FA-49F7-AAE6-D5E2-90C4A0667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CB9C3E-33A5-C43B-0281-FB291F03C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F864-1B11-4A24-8BAF-808440805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753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6B597-6E51-1ACA-EA3C-E0AE4D437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002BD-1585-4796-8913-97A288961EB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3F486-7CC4-78C1-80CE-7423C4D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9E7E0-D711-AF6B-8BD3-92E173FA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F864-1B11-4A24-8BAF-808440805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676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62EA2-12F7-7662-01C9-8F65C4E80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F4563-3288-5126-8F89-6261CA46C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FAB1C-A5DA-883A-9459-4C72C845E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DE391-30EB-5B3C-6AAA-C4EC56F1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002BD-1585-4796-8913-97A288961EB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6B6EE-8F06-2651-5F89-A499C6EE6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7D99F-DA8C-EC5F-2BED-1CF34B38E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F864-1B11-4A24-8BAF-808440805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67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733A7-BF3B-144A-2444-D84C94AE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3F08E6-8311-718E-9378-B4906C0C5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E975DA-A449-F752-967F-EA29D439D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77B2E-C9F5-6A0B-99CC-C94E9A0C2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002BD-1585-4796-8913-97A288961EB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BC337-041F-E73F-6FAC-DCD6E68EB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B8643-372C-4A96-3450-CB92A80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F864-1B11-4A24-8BAF-808440805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493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7A00-0213-C965-DB55-3F435884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4DEF9-4DB3-E9F7-65E7-DF3C8FC9C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60457-D2C9-44C0-A267-36513B01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002BD-1585-4796-8913-97A288961EB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8349A-2CE1-891D-9AC9-63C90512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54955-5527-A710-76DD-6EE53120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F864-1B11-4A24-8BAF-808440805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05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FCF062-FC9F-DDAE-36D7-35390B2A28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FB0B1-CBF9-3386-4A14-9C83C8BF9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808A5-DDC7-22E1-3A05-BDC4FC37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002BD-1585-4796-8913-97A288961EB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BC914-6326-5A17-372D-5525A1611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9ABAC-F526-CA79-FEDE-46D1E138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F864-1B11-4A24-8BAF-808440805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49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666D09-CC24-7642-2A81-8F34ACC42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72F97-3FE3-E61F-C983-05251F87E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F6E91-0EAB-30CF-CC5D-C914CA5DE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D002BD-1585-4796-8913-97A288961EB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6E4C8-39B4-2FAD-558D-EDAD5C2E6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AEFF-888B-ED27-2AE3-7FCB8202F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8F864-1B11-4A24-8BAF-808440805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83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CA04CE-73BB-6F73-35C6-62391B0CB518}"/>
              </a:ext>
            </a:extLst>
          </p:cNvPr>
          <p:cNvSpPr/>
          <p:nvPr/>
        </p:nvSpPr>
        <p:spPr>
          <a:xfrm>
            <a:off x="560231" y="1532586"/>
            <a:ext cx="2028423" cy="1964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2E6AA0-1C43-6C2E-716E-6C93D2E495AB}"/>
              </a:ext>
            </a:extLst>
          </p:cNvPr>
          <p:cNvSpPr txBox="1"/>
          <p:nvPr/>
        </p:nvSpPr>
        <p:spPr>
          <a:xfrm>
            <a:off x="7343103" y="715489"/>
            <a:ext cx="1590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Gpt-35</a:t>
            </a:r>
          </a:p>
          <a:p>
            <a:r>
              <a:rPr lang="en-IN" b="1" dirty="0"/>
              <a:t>STATELESS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A5DE9E-3F53-E3CA-A1CC-94E546D16A4B}"/>
              </a:ext>
            </a:extLst>
          </p:cNvPr>
          <p:cNvCxnSpPr/>
          <p:nvPr/>
        </p:nvCxnSpPr>
        <p:spPr>
          <a:xfrm>
            <a:off x="2781837" y="2356834"/>
            <a:ext cx="12041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66F98C5-4F3A-850B-9A1F-D5D55A53F9A6}"/>
              </a:ext>
            </a:extLst>
          </p:cNvPr>
          <p:cNvSpPr/>
          <p:nvPr/>
        </p:nvSpPr>
        <p:spPr>
          <a:xfrm>
            <a:off x="734096" y="2736760"/>
            <a:ext cx="1539025" cy="592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Who is the CM  of MH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BC0EA0-3A17-E9BF-86A4-B4ADABE6066D}"/>
              </a:ext>
            </a:extLst>
          </p:cNvPr>
          <p:cNvSpPr/>
          <p:nvPr/>
        </p:nvSpPr>
        <p:spPr>
          <a:xfrm>
            <a:off x="4108361" y="1597084"/>
            <a:ext cx="1500388" cy="183191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8BFB58-393E-F544-E90E-549FF55E09DD}"/>
              </a:ext>
            </a:extLst>
          </p:cNvPr>
          <p:cNvSpPr txBox="1"/>
          <p:nvPr/>
        </p:nvSpPr>
        <p:spPr>
          <a:xfrm>
            <a:off x="829110" y="886255"/>
            <a:ext cx="1364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Browser:</a:t>
            </a:r>
          </a:p>
          <a:p>
            <a:r>
              <a:rPr lang="en-IN" dirty="0"/>
              <a:t>myapp.com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821F2F-773B-2C73-D5ED-8FC73FD3B0C4}"/>
              </a:ext>
            </a:extLst>
          </p:cNvPr>
          <p:cNvSpPr/>
          <p:nvPr/>
        </p:nvSpPr>
        <p:spPr>
          <a:xfrm>
            <a:off x="4108361" y="1920612"/>
            <a:ext cx="1539025" cy="592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Who is the CM of MH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2CE6E6-EF12-9027-1EAA-7048AC67CE25}"/>
              </a:ext>
            </a:extLst>
          </p:cNvPr>
          <p:cNvCxnSpPr/>
          <p:nvPr/>
        </p:nvCxnSpPr>
        <p:spPr>
          <a:xfrm>
            <a:off x="5915696" y="2419082"/>
            <a:ext cx="12041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1BE14EA-8F13-BFBD-2C5B-E0672B34B425}"/>
              </a:ext>
            </a:extLst>
          </p:cNvPr>
          <p:cNvSpPr/>
          <p:nvPr/>
        </p:nvSpPr>
        <p:spPr>
          <a:xfrm>
            <a:off x="7119870" y="1749484"/>
            <a:ext cx="1631324" cy="17471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LLM /</a:t>
            </a:r>
          </a:p>
          <a:p>
            <a:pPr algn="ctr"/>
            <a:r>
              <a:rPr lang="en-IN" dirty="0"/>
              <a:t>LMM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65AB8C-806B-F202-F18E-44B74A612675}"/>
              </a:ext>
            </a:extLst>
          </p:cNvPr>
          <p:cNvSpPr txBox="1"/>
          <p:nvPr/>
        </p:nvSpPr>
        <p:spPr>
          <a:xfrm>
            <a:off x="4108361" y="476260"/>
            <a:ext cx="1590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Vijays</a:t>
            </a:r>
            <a:r>
              <a:rPr lang="en-IN" dirty="0"/>
              <a:t>’ Application</a:t>
            </a:r>
          </a:p>
          <a:p>
            <a:r>
              <a:rPr lang="en-IN" b="1" dirty="0"/>
              <a:t>STATEFUL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24E72E9-A715-E520-DC1C-368817249EA0}"/>
              </a:ext>
            </a:extLst>
          </p:cNvPr>
          <p:cNvCxnSpPr/>
          <p:nvPr/>
        </p:nvCxnSpPr>
        <p:spPr>
          <a:xfrm flipH="1">
            <a:off x="5915696" y="3032974"/>
            <a:ext cx="11354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587549D-11A8-C7D5-130A-C7D4C02DF89A}"/>
              </a:ext>
            </a:extLst>
          </p:cNvPr>
          <p:cNvSpPr txBox="1"/>
          <p:nvPr/>
        </p:nvSpPr>
        <p:spPr>
          <a:xfrm>
            <a:off x="7244156" y="3580327"/>
            <a:ext cx="188962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GPT:</a:t>
            </a:r>
            <a:br>
              <a:rPr lang="en-IN" dirty="0"/>
            </a:br>
            <a:r>
              <a:rPr lang="en-IN" dirty="0"/>
              <a:t>Generative</a:t>
            </a:r>
          </a:p>
          <a:p>
            <a:r>
              <a:rPr lang="en-IN" b="1" dirty="0"/>
              <a:t>Pre-trained</a:t>
            </a:r>
          </a:p>
          <a:p>
            <a:r>
              <a:rPr lang="en-IN" dirty="0"/>
              <a:t>Transformer</a:t>
            </a:r>
          </a:p>
          <a:p>
            <a:endParaRPr lang="en-IN" dirty="0"/>
          </a:p>
          <a:p>
            <a:r>
              <a:rPr lang="en-IN" dirty="0"/>
              <a:t>350B parameters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9BAAD3-8059-5700-5939-F683479A24FA}"/>
              </a:ext>
            </a:extLst>
          </p:cNvPr>
          <p:cNvCxnSpPr/>
          <p:nvPr/>
        </p:nvCxnSpPr>
        <p:spPr>
          <a:xfrm flipH="1">
            <a:off x="2781837" y="3017948"/>
            <a:ext cx="11354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57DDA18-BB2A-C625-EC48-EDBE36EA38F5}"/>
              </a:ext>
            </a:extLst>
          </p:cNvPr>
          <p:cNvSpPr txBox="1"/>
          <p:nvPr/>
        </p:nvSpPr>
        <p:spPr>
          <a:xfrm>
            <a:off x="6107668" y="1391786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API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280731B6-98B9-3C50-83D0-AC0385B4BBD8}"/>
              </a:ext>
            </a:extLst>
          </p:cNvPr>
          <p:cNvSpPr/>
          <p:nvPr/>
        </p:nvSpPr>
        <p:spPr>
          <a:xfrm>
            <a:off x="4385256" y="3799268"/>
            <a:ext cx="946598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4862CEE-7F6C-04A2-16C8-B819A9EE69C7}"/>
              </a:ext>
            </a:extLst>
          </p:cNvPr>
          <p:cNvCxnSpPr/>
          <p:nvPr/>
        </p:nvCxnSpPr>
        <p:spPr>
          <a:xfrm>
            <a:off x="4694349" y="3496612"/>
            <a:ext cx="0" cy="302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E8C0D2-5BC1-950F-C434-1B2C4E069E99}"/>
              </a:ext>
            </a:extLst>
          </p:cNvPr>
          <p:cNvCxnSpPr/>
          <p:nvPr/>
        </p:nvCxnSpPr>
        <p:spPr>
          <a:xfrm flipV="1">
            <a:off x="4977685" y="3496612"/>
            <a:ext cx="0" cy="225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E4559C2-ED87-131B-760E-D515C1C9F46F}"/>
              </a:ext>
            </a:extLst>
          </p:cNvPr>
          <p:cNvSpPr txBox="1"/>
          <p:nvPr/>
        </p:nvSpPr>
        <p:spPr>
          <a:xfrm>
            <a:off x="5971504" y="1772751"/>
            <a:ext cx="1156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Prompt+</a:t>
            </a:r>
            <a:br>
              <a:rPr lang="en-IN" dirty="0"/>
            </a:br>
            <a:r>
              <a:rPr lang="en-IN" b="1" dirty="0"/>
              <a:t>Relevant</a:t>
            </a:r>
            <a:br>
              <a:rPr lang="en-IN" b="1" dirty="0"/>
            </a:br>
            <a:r>
              <a:rPr lang="en-IN" b="1" dirty="0"/>
              <a:t>context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2A267B-725C-DD14-565F-F0A6511E5677}"/>
              </a:ext>
            </a:extLst>
          </p:cNvPr>
          <p:cNvSpPr txBox="1"/>
          <p:nvPr/>
        </p:nvSpPr>
        <p:spPr>
          <a:xfrm>
            <a:off x="4264470" y="4819883"/>
            <a:ext cx="2187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Session and conversation history</a:t>
            </a:r>
          </a:p>
        </p:txBody>
      </p:sp>
    </p:spTree>
    <p:extLst>
      <p:ext uri="{BB962C8B-B14F-4D97-AF65-F5344CB8AC3E}">
        <p14:creationId xmlns:p14="http://schemas.microsoft.com/office/powerpoint/2010/main" val="408784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A808C-01BB-F590-483B-A8E47AD7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C04B0A-C897-A104-811C-3E6EE045F073}"/>
              </a:ext>
            </a:extLst>
          </p:cNvPr>
          <p:cNvSpPr/>
          <p:nvPr/>
        </p:nvSpPr>
        <p:spPr>
          <a:xfrm>
            <a:off x="6333067" y="524934"/>
            <a:ext cx="5723466" cy="30395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CLOUD</a:t>
            </a:r>
          </a:p>
          <a:p>
            <a:r>
              <a:rPr lang="en-IN" dirty="0"/>
              <a:t>(MS Azure AI Foundry, Amazon Bedrock, Google GCP AI)</a:t>
            </a:r>
          </a:p>
          <a:p>
            <a:r>
              <a:rPr lang="en-IN" dirty="0"/>
              <a:t>SAAS/PAAS</a:t>
            </a:r>
          </a:p>
          <a:p>
            <a:pPr marL="285750" indent="-285750">
              <a:buFontTx/>
              <a:buChar char="-"/>
            </a:pPr>
            <a:r>
              <a:rPr lang="en-IN" dirty="0"/>
              <a:t>Shared Service – Least Private</a:t>
            </a:r>
            <a:br>
              <a:rPr lang="en-IN" dirty="0"/>
            </a:br>
            <a:r>
              <a:rPr lang="en-IN" dirty="0"/>
              <a:t>(charged per token – on-demand)</a:t>
            </a:r>
          </a:p>
          <a:p>
            <a:pPr marL="285750" indent="-285750">
              <a:buFontTx/>
              <a:buChar char="-"/>
            </a:pPr>
            <a:r>
              <a:rPr lang="en-IN" dirty="0"/>
              <a:t>Managed Service – more secure</a:t>
            </a:r>
            <a:br>
              <a:rPr lang="en-IN" dirty="0"/>
            </a:br>
            <a:r>
              <a:rPr lang="en-IN" dirty="0"/>
              <a:t>Charged for the infra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r>
              <a:rPr lang="en-IN" dirty="0"/>
              <a:t>IAAS</a:t>
            </a:r>
            <a:br>
              <a:rPr lang="en-IN" dirty="0"/>
            </a:br>
            <a:r>
              <a:rPr lang="en-IN" dirty="0"/>
              <a:t>VM On the cloud</a:t>
            </a:r>
          </a:p>
          <a:p>
            <a:r>
              <a:rPr lang="en-IN" dirty="0"/>
              <a:t>- Deploy a downloaded pre-trained model on VM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C45A411-A2DA-8F70-33D0-6122DEDC3EA0}"/>
              </a:ext>
            </a:extLst>
          </p:cNvPr>
          <p:cNvSpPr/>
          <p:nvPr/>
        </p:nvSpPr>
        <p:spPr>
          <a:xfrm>
            <a:off x="1625600" y="1083733"/>
            <a:ext cx="1879600" cy="21166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MYAPP</a:t>
            </a:r>
          </a:p>
          <a:p>
            <a:pPr algn="ctr"/>
            <a:r>
              <a:rPr lang="en-IN" dirty="0"/>
              <a:t>Python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414D6A-F70C-C7F4-56E4-A0AF2EBED38D}"/>
              </a:ext>
            </a:extLst>
          </p:cNvPr>
          <p:cNvCxnSpPr/>
          <p:nvPr/>
        </p:nvCxnSpPr>
        <p:spPr>
          <a:xfrm flipV="1">
            <a:off x="4233333" y="1794933"/>
            <a:ext cx="1862667" cy="313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0A0B588-C1FF-4E68-6800-A145FA58C48B}"/>
              </a:ext>
            </a:extLst>
          </p:cNvPr>
          <p:cNvSpPr txBox="1"/>
          <p:nvPr/>
        </p:nvSpPr>
        <p:spPr>
          <a:xfrm>
            <a:off x="4537304" y="1148602"/>
            <a:ext cx="15586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API:</a:t>
            </a:r>
            <a:br>
              <a:rPr lang="en-IN" dirty="0"/>
            </a:br>
            <a:r>
              <a:rPr lang="en-IN" dirty="0" err="1"/>
              <a:t>Endpoint+Key</a:t>
            </a:r>
            <a:endParaRPr lang="en-IN" dirty="0"/>
          </a:p>
          <a:p>
            <a:r>
              <a:rPr lang="en-IN" dirty="0"/>
              <a:t>Model-name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57D39A-19F2-60DE-29AF-B2FD14ABA827}"/>
              </a:ext>
            </a:extLst>
          </p:cNvPr>
          <p:cNvSpPr/>
          <p:nvPr/>
        </p:nvSpPr>
        <p:spPr>
          <a:xfrm>
            <a:off x="3699933" y="3835400"/>
            <a:ext cx="6976534" cy="14139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ON-PREM</a:t>
            </a:r>
          </a:p>
          <a:p>
            <a:endParaRPr lang="en-IN" dirty="0"/>
          </a:p>
          <a:p>
            <a:r>
              <a:rPr lang="en-IN" dirty="0"/>
              <a:t>Opensource/Open weight models only such as Llama/Mistral</a:t>
            </a:r>
          </a:p>
          <a:p>
            <a:r>
              <a:rPr lang="en-IN" dirty="0"/>
              <a:t>Own infra or even a powerful laptop (Small Language Models – SLM)</a:t>
            </a:r>
            <a:br>
              <a:rPr lang="en-IN" dirty="0"/>
            </a:br>
            <a:r>
              <a:rPr lang="en-IN" dirty="0"/>
              <a:t>Llama 3B/8B param model can run on powerful laptop or colab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12737C-FD07-1813-DCF8-FCA97C6F934A}"/>
              </a:ext>
            </a:extLst>
          </p:cNvPr>
          <p:cNvCxnSpPr>
            <a:cxnSpLocks/>
          </p:cNvCxnSpPr>
          <p:nvPr/>
        </p:nvCxnSpPr>
        <p:spPr>
          <a:xfrm>
            <a:off x="3742267" y="2656132"/>
            <a:ext cx="1862667" cy="1052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386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3258</TotalTime>
  <Words>148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 Agrawal</dc:creator>
  <cp:lastModifiedBy>Vijay Agrawal</cp:lastModifiedBy>
  <cp:revision>3</cp:revision>
  <dcterms:created xsi:type="dcterms:W3CDTF">2025-07-19T10:33:46Z</dcterms:created>
  <dcterms:modified xsi:type="dcterms:W3CDTF">2025-07-21T16:56:33Z</dcterms:modified>
</cp:coreProperties>
</file>